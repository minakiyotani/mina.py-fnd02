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273" r:id="rId3"/>
    <p:sldId id="260" r:id="rId4"/>
    <p:sldId id="259" r:id="rId5"/>
    <p:sldId id="256" r:id="rId6"/>
    <p:sldId id="258" r:id="rId7"/>
    <p:sldId id="257" r:id="rId8"/>
    <p:sldId id="263" r:id="rId9"/>
    <p:sldId id="264" r:id="rId10"/>
    <p:sldId id="265" r:id="rId11"/>
    <p:sldId id="276" r:id="rId12"/>
    <p:sldId id="266" r:id="rId13"/>
    <p:sldId id="267" r:id="rId14"/>
    <p:sldId id="277" r:id="rId15"/>
    <p:sldId id="268" r:id="rId16"/>
    <p:sldId id="269" r:id="rId17"/>
    <p:sldId id="270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7895C-4ECA-4EA9-B60D-C124F0F4D5EF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F2AAD-4AB4-4EE1-80C4-7B99111A58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59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サービスパーツ部、清谷です。よろしくお願いします。種類削減活動について、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コードでデータ分析しました。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283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参加動機は、「大容量データからの、品番抽出作業」に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を活用し、効率化したいと考えたからです。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5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まず、今年</a:t>
            </a:r>
            <a:r>
              <a:rPr kumimoji="1" lang="en-US" altLang="ja-JP" dirty="0"/>
              <a:t>1</a:t>
            </a:r>
            <a:r>
              <a:rPr kumimoji="1" lang="ja-JP" altLang="en-US" dirty="0"/>
              <a:t>月、</a:t>
            </a:r>
            <a:r>
              <a:rPr kumimoji="1" lang="en-US" altLang="ja-JP" dirty="0"/>
              <a:t>T-Wave</a:t>
            </a:r>
            <a:r>
              <a:rPr kumimoji="1" lang="ja-JP" altLang="en-US" dirty="0"/>
              <a:t>で全社公開された資料を使用しながら、どんな業務に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を活用したいのか、説明します。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643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社内関係部署はこの通りです。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916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サービスパーツは、「出荷対象品番　</a:t>
            </a:r>
            <a:r>
              <a:rPr kumimoji="1" lang="en-US" altLang="ja-JP" dirty="0"/>
              <a:t>97</a:t>
            </a:r>
            <a:r>
              <a:rPr kumimoji="1" lang="ja-JP" altLang="en-US" dirty="0"/>
              <a:t>万点」で、お客様のかけがえのない一台の用品や修理部品です。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781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日当たり、２０～３０万件、入出荷しています。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43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新車がうまれ、長く愛車に乗っていただく中で、サービスパーツは増え、在庫管理スペースの確保も課題です。お客様ニーズとバランスをとりながら、「種類削減活動」を実施、削減対象品番を選定し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81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基幹システムからデータをダウンロードし、人が判断・データ加工しながら手作業していますが、手戻りが多いのが実情です。そこで、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を学び、業務効率化に活かしたいと考えました。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384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受講して、特に、データクレンジングや条件抽出を、実務に活用できそう、と感じました。本日は、種類削減活動のひとつ、「大</a:t>
            </a:r>
            <a:r>
              <a:rPr kumimoji="1" lang="en-US" altLang="ja-JP" dirty="0"/>
              <a:t>ASSY-NS</a:t>
            </a:r>
            <a:r>
              <a:rPr kumimoji="1" lang="ja-JP" altLang="en-US" dirty="0"/>
              <a:t>化」で実際に使用したデータをサンプルとして、報告します。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690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左上</a:t>
            </a:r>
            <a:r>
              <a:rPr kumimoji="1" lang="en-US" altLang="ja-JP" dirty="0"/>
              <a:t>3</a:t>
            </a:r>
            <a:r>
              <a:rPr kumimoji="1" lang="ja-JP" altLang="en-US" dirty="0"/>
              <a:t>行め、データクレンジングです。９行目、「</a:t>
            </a:r>
            <a:r>
              <a:rPr kumimoji="1" lang="en-US" altLang="ja-JP" dirty="0"/>
              <a:t>kijyungai.csv</a:t>
            </a:r>
            <a:r>
              <a:rPr kumimoji="1" lang="ja-JP" altLang="en-US" dirty="0"/>
              <a:t>」ファイルを読み込み、右、データ確認したところ、</a:t>
            </a:r>
            <a:r>
              <a:rPr kumimoji="1" lang="en-US" altLang="ja-JP" dirty="0"/>
              <a:t>949</a:t>
            </a:r>
            <a:r>
              <a:rPr kumimoji="1" lang="ja-JP" altLang="en-US" dirty="0"/>
              <a:t>件中、「品番数」「品目」は欠損値はありませんが、「除外理由」が、</a:t>
            </a:r>
            <a:r>
              <a:rPr kumimoji="1" lang="en-US" altLang="ja-JP" dirty="0"/>
              <a:t>949</a:t>
            </a:r>
            <a:r>
              <a:rPr kumimoji="1" lang="ja-JP" altLang="en-US" dirty="0"/>
              <a:t>引く</a:t>
            </a:r>
            <a:r>
              <a:rPr kumimoji="1" lang="en-US" altLang="ja-JP" dirty="0"/>
              <a:t>918</a:t>
            </a:r>
            <a:r>
              <a:rPr kumimoji="1" lang="ja-JP" altLang="en-US" dirty="0"/>
              <a:t>、</a:t>
            </a:r>
            <a:r>
              <a:rPr kumimoji="1" lang="en-US" altLang="ja-JP" dirty="0"/>
              <a:t>31</a:t>
            </a:r>
            <a:r>
              <a:rPr kumimoji="1" lang="ja-JP" altLang="en-US" dirty="0"/>
              <a:t>件、欠損していることがわかります。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2741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欠損値は、もとの</a:t>
            </a:r>
            <a:r>
              <a:rPr kumimoji="1" lang="en-US" altLang="ja-JP" dirty="0"/>
              <a:t>csv</a:t>
            </a:r>
            <a:r>
              <a:rPr kumimoji="1" lang="ja-JP" altLang="en-US" dirty="0"/>
              <a:t>データでは、ブランクになっています。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9071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「除外理由」で</a:t>
            </a:r>
            <a:r>
              <a:rPr kumimoji="1" lang="en-US" altLang="ja-JP" dirty="0"/>
              <a:t>31</a:t>
            </a:r>
            <a:r>
              <a:rPr kumimoji="1" lang="ja-JP" altLang="en-US" dirty="0"/>
              <a:t>件、欠損していることがわかります。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47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ターミナルと</a:t>
            </a:r>
            <a:r>
              <a:rPr kumimoji="1" lang="en-US" altLang="ja-JP" dirty="0"/>
              <a:t>CSV</a:t>
            </a:r>
            <a:r>
              <a:rPr kumimoji="1" lang="ja-JP" altLang="en-US" dirty="0"/>
              <a:t>の比較です。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45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分析にあたり、このままグラフを作成するとエラーが発生します。修正の仕方は仮値を挿入する方法もありますが、今回の場合、除外理由がブランクの品番は活動で除外される理由がない部品、つまり、「除外理由」の分析には必要ない品番です。そこで、今回は「欠損値を含む行を削除」することにし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472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左、欠損値を含む行を削除するコードで実行、</a:t>
            </a:r>
            <a:r>
              <a:rPr kumimoji="1" lang="en-US" altLang="ja-JP" dirty="0"/>
              <a:t>947</a:t>
            </a:r>
            <a:r>
              <a:rPr kumimoji="1" lang="ja-JP" altLang="en-US" dirty="0"/>
              <a:t>行目のように、削除されました。右で再確認、欠損データはなくなりました。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640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品番ごとの除外理由の合計も確認できました。感激しました。エクセルでも作成できますが、より早く結果が出るので効率的だと感じました。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9892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グラフも作成できました。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753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シンプルに表示されるので、仮説も立てやすく感じました。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48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まとめです。作業単位で活用でき、シンプルに俯瞰できる点がとても効率的だと感じました。想像以上に直感的でした。恵まれた環境で仲間と学べ感謝します。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8876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ご清聴ありがとうございました。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6F0760-B956-4058-80BA-2871D796D5D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95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2062D-584C-41D9-104C-877309C9A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0EA9B44-D5F4-62AF-5219-77D0CF0CB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2095F3-DEBC-6E52-D89E-E970FD48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0FA7FC-52F4-343A-D09B-8BF05D45E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8EA118-5F7A-FD9C-7B2F-5EACF0E8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64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3F9E79-2651-4526-E5FD-D1527460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1B98FB-83F6-95F2-97F4-3497FC5F3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966E70-B713-910A-8C93-042D60D2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93B749-33E5-857E-DB2A-7C7B8640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9A6CB5-0CF1-0818-1D45-7A04F55A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64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9D9EE-CABA-6898-7DC6-BC6B3CBCE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8AF6E6B-A85E-6BA8-3C7B-8A2004DD2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07B59F-4520-E7C2-C92C-64536A02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1937AB-436B-3014-5C2A-74CE0DEC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5B3624-C630-A3FE-1948-658E50D4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10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1874D-E6F8-0FD4-F30D-B1BC27B4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22C16A-A055-CE59-52EB-9590925B5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8CA5F8-0127-0167-C693-49E9086D4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7A01BD-D8B6-3327-2520-B86668420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55D64E-5167-767E-9363-C1E76E1F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E80A8A-AFFB-3A8F-E8CF-2E1D9766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75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9621F9-2CEB-14FF-8ED7-60457624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28610B-0D67-717C-B77A-2B03BF1C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DE7374-E2BE-0AD1-F2C7-856E922E9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CE1532-7F9B-DD37-E4E9-3015641DE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3FC4A02-C4E1-687E-BFBF-B28004A4E9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B7F93A-BC12-D3C9-D024-E6D2B769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EBFD753-A04B-CECF-79EE-180D29F9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F3FE9C-4094-CF84-BA4A-DA784BDF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004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1A0D15-7764-4E54-FEBE-8EAF57A1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4155FC-D0AA-0C3C-0969-8F11F6ADD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DADD48-307A-D750-1D35-FF044AE5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C53C3E-2B73-AC65-1FD3-5E088E87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05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7974CE-4DE7-6D8A-A1E6-8A056789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8092159-F325-E46C-B4A9-9E2600D1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112C45-D640-ACBD-8D16-D9526546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97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17626-7236-6F03-38F8-149A7860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AD5EE8-64E9-77E8-ADC5-365C76DA9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5A136E-7515-A60A-FD09-3EED0D289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A0B8BA-D117-D3C8-E72D-1A6898A9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CA80A1-384E-7884-1DF8-FB3C8AC0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975376-26C9-9D14-DF92-B2F6969C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4596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5B6DF4-8546-7645-87D4-C08527FC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431A23-481C-D571-BF6C-CD97ED16C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8B8FFC-08F7-14E2-9A3E-066C30F0C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6E945B-4F3A-003A-3ED0-0311461F5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A44A3D-00D7-E96F-D024-D277D8DE7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83B7F2-978F-5576-D47F-2A2AD141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62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2CE91-4445-064D-F77A-5FAA5C48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0B9B4D-54A0-427D-59FF-84543DAC3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7E900E-E069-6021-7108-23B63325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CE632-C840-8CBA-3E07-0422E733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F4081-E0B5-9126-DEE7-255551CE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8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D48BD5B-9805-4E71-69CF-658695EDC7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D1605E8-CE5D-2CBA-A61C-16C0FD058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73215D-596C-D4A3-5C8A-1EC4AE931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BE5401-6277-DFBF-A30A-A9E1BF58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58682B-B79B-0508-EA7A-3968F8AF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20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ED81B83-E6B4-E32A-580A-1779159EE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A1D69A-271E-C911-8DF7-DF1ABDD6A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6B8DB4-8B72-1BC2-9749-8F08C8495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A627D-6320-459A-BF8F-9AF15B3F2D79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84FF5-75E3-9EDE-1C8A-6469B61AB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661B4A-BA9F-014C-198C-9E4216E64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15301-D0FB-401A-BE0C-DA5227601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88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w.portal.toyota/topicsallitems/2026/01/09/01/09/20260109100938538_jc6gz0v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1E839D-216F-36FA-9790-5CFB3638015E}"/>
              </a:ext>
            </a:extLst>
          </p:cNvPr>
          <p:cNvGrpSpPr/>
          <p:nvPr/>
        </p:nvGrpSpPr>
        <p:grpSpPr>
          <a:xfrm>
            <a:off x="712264" y="913337"/>
            <a:ext cx="11043920" cy="5588445"/>
            <a:chOff x="574040" y="913337"/>
            <a:chExt cx="11043920" cy="5588445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A9E2523A-5DF0-24CE-F66D-C68C10226F91}"/>
                </a:ext>
              </a:extLst>
            </p:cNvPr>
            <p:cNvSpPr/>
            <p:nvPr/>
          </p:nvSpPr>
          <p:spPr>
            <a:xfrm>
              <a:off x="574040" y="913337"/>
              <a:ext cx="11043920" cy="377562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5400" b="1" dirty="0"/>
                <a:t>Python</a:t>
              </a:r>
              <a:r>
                <a:rPr lang="ja-JP" altLang="en-US" sz="5400" b="1" dirty="0"/>
                <a:t>　データ分析</a:t>
              </a:r>
              <a:endParaRPr lang="en-US" altLang="ja-JP" sz="5400" b="1" dirty="0"/>
            </a:p>
            <a:p>
              <a:pPr algn="ctr"/>
              <a:endParaRPr lang="en-US" altLang="ja-JP" sz="5400" b="1" dirty="0"/>
            </a:p>
            <a:p>
              <a:pPr algn="ctr"/>
              <a:r>
                <a:rPr lang="ja-JP" altLang="en-US" sz="5400" b="1" dirty="0"/>
                <a:t>（種類削減活動）</a:t>
              </a:r>
              <a:endParaRPr lang="en-US" altLang="ja-JP" sz="5400" b="1" dirty="0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8C96E25-687A-C9EA-DC14-28162A216696}"/>
                </a:ext>
              </a:extLst>
            </p:cNvPr>
            <p:cNvSpPr/>
            <p:nvPr/>
          </p:nvSpPr>
          <p:spPr>
            <a:xfrm>
              <a:off x="3222020" y="5080563"/>
              <a:ext cx="8395940" cy="1421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kumimoji="1" lang="en-US" altLang="ja-JP" sz="2800" dirty="0">
                  <a:solidFill>
                    <a:schemeClr val="tx1"/>
                  </a:solidFill>
                </a:rPr>
                <a:t>2026/1/22</a:t>
              </a:r>
            </a:p>
            <a:p>
              <a:pPr algn="r"/>
              <a:r>
                <a:rPr lang="ja-JP" altLang="en-US" sz="2800" dirty="0">
                  <a:solidFill>
                    <a:schemeClr val="tx1"/>
                  </a:solidFill>
                </a:rPr>
                <a:t>サービスパーツ部　</a:t>
              </a:r>
              <a:endParaRPr kumimoji="1" lang="en-US" altLang="ja-JP" sz="2800" dirty="0">
                <a:solidFill>
                  <a:schemeClr val="tx1"/>
                </a:solidFill>
              </a:endParaRPr>
            </a:p>
            <a:p>
              <a:pPr algn="r"/>
              <a:r>
                <a:rPr lang="en-US" altLang="ja-JP" sz="2800" dirty="0">
                  <a:solidFill>
                    <a:schemeClr val="tx1"/>
                  </a:solidFill>
                </a:rPr>
                <a:t>01  Mina Kiyotani</a:t>
              </a:r>
              <a:endParaRPr kumimoji="1" lang="ja-JP" alt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6E23EF0-0796-D897-AFAA-EEA07725915F}"/>
              </a:ext>
            </a:extLst>
          </p:cNvPr>
          <p:cNvSpPr txBox="1"/>
          <p:nvPr/>
        </p:nvSpPr>
        <p:spPr>
          <a:xfrm>
            <a:off x="257840" y="152400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Python FND 2</a:t>
            </a:r>
            <a:endParaRPr lang="ja-JP" altLang="en-US" dirty="0"/>
          </a:p>
        </p:txBody>
      </p:sp>
      <p:pic>
        <p:nvPicPr>
          <p:cNvPr id="13" name="図 12" descr="グラフ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B2A231C-9EAD-1774-A790-E4E8E28E03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949" y="0"/>
            <a:ext cx="12192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4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9339D-4F3C-4379-002A-A6E4CACA0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778359-A121-5B09-9122-0DBC5D894728}"/>
              </a:ext>
            </a:extLst>
          </p:cNvPr>
          <p:cNvSpPr/>
          <p:nvPr/>
        </p:nvSpPr>
        <p:spPr>
          <a:xfrm>
            <a:off x="0" y="191386"/>
            <a:ext cx="12191999" cy="6018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5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5400" u="sng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動機</a:t>
            </a:r>
            <a:endParaRPr lang="en-US" altLang="ja-JP" sz="5400" u="sng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5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5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・業務改善</a:t>
            </a:r>
            <a:endParaRPr kumimoji="1" lang="en-US" altLang="ja-JP" sz="5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5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5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・大容量データ 品番抽出 効率化</a:t>
            </a:r>
            <a:endParaRPr kumimoji="1" lang="en-US" altLang="ja-JP" sz="5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57738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CAEA0B4-A274-14BD-674B-455CA72FA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841" y="3632802"/>
            <a:ext cx="5181266" cy="2906695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047990A-8093-9117-9F61-1711DA47EC2B}"/>
              </a:ext>
            </a:extLst>
          </p:cNvPr>
          <p:cNvGrpSpPr/>
          <p:nvPr/>
        </p:nvGrpSpPr>
        <p:grpSpPr>
          <a:xfrm>
            <a:off x="6457841" y="834364"/>
            <a:ext cx="5181266" cy="2274429"/>
            <a:chOff x="5703495" y="272060"/>
            <a:chExt cx="6182103" cy="2545567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A8DDFBE5-C54B-60B5-2BB5-0406DF84C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03495" y="272060"/>
              <a:ext cx="6182103" cy="2545567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1A0B215-BB46-BA76-D0CE-C0237C043AAE}"/>
                </a:ext>
              </a:extLst>
            </p:cNvPr>
            <p:cNvSpPr/>
            <p:nvPr/>
          </p:nvSpPr>
          <p:spPr>
            <a:xfrm>
              <a:off x="5784111" y="2530549"/>
              <a:ext cx="3136604" cy="28707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6F5B3EC-3C4E-1D01-997E-280103E4AD5B}"/>
              </a:ext>
            </a:extLst>
          </p:cNvPr>
          <p:cNvGrpSpPr/>
          <p:nvPr/>
        </p:nvGrpSpPr>
        <p:grpSpPr>
          <a:xfrm>
            <a:off x="223284" y="318503"/>
            <a:ext cx="4721466" cy="6316213"/>
            <a:chOff x="233916" y="223284"/>
            <a:chExt cx="4721466" cy="6316213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D93D26B6-134B-2FD9-6C62-5E446C4F3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887" b="3315"/>
            <a:stretch/>
          </p:blipFill>
          <p:spPr>
            <a:xfrm>
              <a:off x="233916" y="223284"/>
              <a:ext cx="4721466" cy="6316213"/>
            </a:xfrm>
            <a:prstGeom prst="rect">
              <a:avLst/>
            </a:prstGeom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97CA8A4-C7DB-A16C-DBC3-54907D665157}"/>
                </a:ext>
              </a:extLst>
            </p:cNvPr>
            <p:cNvSpPr/>
            <p:nvPr/>
          </p:nvSpPr>
          <p:spPr>
            <a:xfrm>
              <a:off x="1254642" y="1215234"/>
              <a:ext cx="3136604" cy="32960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2C9BABB3-B54F-A0F6-1BE8-704E750A2838}"/>
                </a:ext>
              </a:extLst>
            </p:cNvPr>
            <p:cNvSpPr/>
            <p:nvPr/>
          </p:nvSpPr>
          <p:spPr>
            <a:xfrm>
              <a:off x="664841" y="5518298"/>
              <a:ext cx="1291550" cy="78680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1A24B29-9EBA-7C90-4751-147BBC4C3430}"/>
              </a:ext>
            </a:extLst>
          </p:cNvPr>
          <p:cNvSpPr txBox="1"/>
          <p:nvPr/>
        </p:nvSpPr>
        <p:spPr>
          <a:xfrm>
            <a:off x="5422605" y="318503"/>
            <a:ext cx="6691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hlinkClick r:id="rId6"/>
              </a:rPr>
              <a:t>https://tw.portal.toyota/topicsallitems/2026/01/09/01/09/20260109100938538_jc6gz0vl</a:t>
            </a:r>
            <a:endParaRPr lang="en-US" altLang="ja-JP" sz="1200" dirty="0"/>
          </a:p>
          <a:p>
            <a:endParaRPr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5260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FC54C14-FBA3-B996-469A-63D2905A6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1100"/>
            <a:ext cx="12020532" cy="671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57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0247F43-6BF4-2764-1498-60343C2A5ED1}"/>
              </a:ext>
            </a:extLst>
          </p:cNvPr>
          <p:cNvGrpSpPr/>
          <p:nvPr/>
        </p:nvGrpSpPr>
        <p:grpSpPr>
          <a:xfrm>
            <a:off x="0" y="28941"/>
            <a:ext cx="12110484" cy="6754651"/>
            <a:chOff x="0" y="28941"/>
            <a:chExt cx="12110484" cy="6754651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8C4A7AF0-EB5C-2C30-BFFD-9B0F6E3E4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8941"/>
              <a:ext cx="12110484" cy="6754651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835A4BE-990F-1BE6-8290-F681C67F8B95}"/>
                </a:ext>
              </a:extLst>
            </p:cNvPr>
            <p:cNvSpPr/>
            <p:nvPr/>
          </p:nvSpPr>
          <p:spPr>
            <a:xfrm>
              <a:off x="8197702" y="4393894"/>
              <a:ext cx="3317357" cy="149654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233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900C2AD1-5E36-90F1-5203-0B812E4B11B2}"/>
              </a:ext>
            </a:extLst>
          </p:cNvPr>
          <p:cNvGrpSpPr/>
          <p:nvPr/>
        </p:nvGrpSpPr>
        <p:grpSpPr>
          <a:xfrm>
            <a:off x="0" y="49552"/>
            <a:ext cx="12092873" cy="6758895"/>
            <a:chOff x="0" y="49552"/>
            <a:chExt cx="12092873" cy="6758895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C333AF56-25EB-EDB0-F88E-B57329994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9552"/>
              <a:ext cx="12092873" cy="6758895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CBCA3CE-C412-C532-D0AF-2A1F4E9D83F8}"/>
                </a:ext>
              </a:extLst>
            </p:cNvPr>
            <p:cNvSpPr/>
            <p:nvPr/>
          </p:nvSpPr>
          <p:spPr>
            <a:xfrm>
              <a:off x="191386" y="882503"/>
              <a:ext cx="9675628" cy="60605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641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CF28539-D776-D743-0E21-9AED94D6EF2B}"/>
              </a:ext>
            </a:extLst>
          </p:cNvPr>
          <p:cNvGrpSpPr/>
          <p:nvPr/>
        </p:nvGrpSpPr>
        <p:grpSpPr>
          <a:xfrm>
            <a:off x="0" y="0"/>
            <a:ext cx="12201895" cy="6858000"/>
            <a:chOff x="0" y="0"/>
            <a:chExt cx="12201895" cy="6858000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493F487F-F93A-096E-7FD3-581490B84AE3}"/>
                </a:ext>
              </a:extLst>
            </p:cNvPr>
            <p:cNvGrpSpPr/>
            <p:nvPr/>
          </p:nvGrpSpPr>
          <p:grpSpPr>
            <a:xfrm>
              <a:off x="0" y="0"/>
              <a:ext cx="12201895" cy="6858000"/>
              <a:chOff x="-1" y="0"/>
              <a:chExt cx="12201895" cy="6858000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2A4B6AA8-3A0F-9FCD-D448-CAC6787E1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12201895" cy="6858000"/>
              </a:xfrm>
              <a:prstGeom prst="rect">
                <a:avLst/>
              </a:prstGeom>
            </p:spPr>
          </p:pic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F3FBEDDA-5FEA-CF68-7F87-B63D720A7051}"/>
                  </a:ext>
                </a:extLst>
              </p:cNvPr>
              <p:cNvSpPr/>
              <p:nvPr/>
            </p:nvSpPr>
            <p:spPr>
              <a:xfrm>
                <a:off x="6432698" y="5326912"/>
                <a:ext cx="3136604" cy="329609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09D2565-74A6-B858-B342-501F212467B4}"/>
                </a:ext>
              </a:extLst>
            </p:cNvPr>
            <p:cNvSpPr/>
            <p:nvPr/>
          </p:nvSpPr>
          <p:spPr>
            <a:xfrm>
              <a:off x="9746512" y="5326912"/>
              <a:ext cx="2445488" cy="112705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ja-JP" altLang="en-US" sz="1100" b="1" dirty="0"/>
                <a:t>　</a:t>
              </a:r>
              <a:r>
                <a:rPr lang="ja-JP" altLang="en-US" sz="1100" b="1" u="sng" dirty="0"/>
                <a:t>動機</a:t>
              </a:r>
              <a:endParaRPr lang="en-US" altLang="ja-JP" sz="1100" b="1" u="sng" dirty="0"/>
            </a:p>
            <a:p>
              <a:endParaRPr lang="en-US" altLang="ja-JP" sz="1100" b="1" dirty="0"/>
            </a:p>
            <a:p>
              <a:r>
                <a:rPr kumimoji="1" lang="ja-JP" altLang="en-US" sz="1100" b="1" dirty="0"/>
                <a:t>　・業務改善</a:t>
              </a:r>
              <a:endParaRPr kumimoji="1" lang="en-US" altLang="ja-JP" sz="1100" b="1" dirty="0"/>
            </a:p>
            <a:p>
              <a:endParaRPr kumimoji="1" lang="en-US" altLang="ja-JP" sz="1100" b="1" dirty="0"/>
            </a:p>
            <a:p>
              <a:r>
                <a:rPr lang="ja-JP" altLang="en-US" sz="1100" b="1" dirty="0"/>
                <a:t>　・大容量データ 品番抽出 効率化</a:t>
              </a:r>
              <a:endParaRPr kumimoji="1" lang="en-US" altLang="ja-JP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89866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1DDC065-E3C1-DB79-D1C8-7656E4B85113}"/>
              </a:ext>
            </a:extLst>
          </p:cNvPr>
          <p:cNvSpPr/>
          <p:nvPr/>
        </p:nvSpPr>
        <p:spPr>
          <a:xfrm>
            <a:off x="170881" y="191386"/>
            <a:ext cx="11767710" cy="786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こまりごと　：　手作業による手戻り、判断基準が複雑（</a:t>
            </a:r>
            <a:r>
              <a:rPr lang="en-US" altLang="ja-JP" sz="2400" b="1" dirty="0"/>
              <a:t>or</a:t>
            </a:r>
            <a:r>
              <a:rPr lang="ja-JP" altLang="en-US" sz="2400" b="1" dirty="0"/>
              <a:t>、</a:t>
            </a:r>
            <a:r>
              <a:rPr lang="en-US" altLang="ja-JP" sz="2400" b="1" dirty="0"/>
              <a:t>and</a:t>
            </a:r>
            <a:r>
              <a:rPr lang="ja-JP" altLang="en-US" sz="2400" b="1" dirty="0"/>
              <a:t>）</a:t>
            </a:r>
            <a:endParaRPr kumimoji="1" lang="en-US" altLang="ja-JP" sz="2400" b="1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47E4D0B-6CB7-5000-830A-246BB5580EE0}"/>
              </a:ext>
            </a:extLst>
          </p:cNvPr>
          <p:cNvGrpSpPr/>
          <p:nvPr/>
        </p:nvGrpSpPr>
        <p:grpSpPr>
          <a:xfrm>
            <a:off x="170880" y="1244858"/>
            <a:ext cx="11850240" cy="5421757"/>
            <a:chOff x="170880" y="1244858"/>
            <a:chExt cx="11850240" cy="5421757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E952C88A-BC4A-4D66-2C99-B32B671C3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409" y="1244858"/>
              <a:ext cx="11685182" cy="1675639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86B183D8-ACCC-D554-47BF-AD3C606D5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880" y="4029741"/>
              <a:ext cx="11850240" cy="2636874"/>
            </a:xfrm>
            <a:prstGeom prst="rect">
              <a:avLst/>
            </a:prstGeom>
          </p:spPr>
        </p:pic>
        <p:sp>
          <p:nvSpPr>
            <p:cNvPr id="12" name="矢印: 下 11">
              <a:extLst>
                <a:ext uri="{FF2B5EF4-FFF2-40B4-BE49-F238E27FC236}">
                  <a16:creationId xmlns:a16="http://schemas.microsoft.com/office/drawing/2014/main" id="{30B12606-644B-E0D8-996F-DEE07591D4E1}"/>
                </a:ext>
              </a:extLst>
            </p:cNvPr>
            <p:cNvSpPr/>
            <p:nvPr/>
          </p:nvSpPr>
          <p:spPr>
            <a:xfrm>
              <a:off x="3704374" y="2434856"/>
              <a:ext cx="4546491" cy="1594885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/>
                <a:t>現状：</a:t>
              </a:r>
              <a:br>
                <a:rPr lang="en-US" altLang="ja-JP" dirty="0"/>
              </a:br>
              <a:r>
                <a:rPr lang="ja-JP" altLang="en-US" dirty="0"/>
                <a:t>基準をもとに、人が判断・データ加工</a:t>
              </a:r>
              <a:endParaRPr lang="en-US" altLang="ja-JP" dirty="0"/>
            </a:p>
            <a:p>
              <a:pPr algn="ctr"/>
              <a:r>
                <a:rPr lang="ja-JP" altLang="en-US" dirty="0"/>
                <a:t>しながら手作業</a:t>
              </a:r>
              <a:endParaRPr kumimoji="1" lang="ja-JP" altLang="en-US" dirty="0"/>
            </a:p>
          </p:txBody>
        </p: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7EE6C93C-B386-DBA7-133C-298DBE1F3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33459" y="1870313"/>
              <a:ext cx="1496550" cy="2100367"/>
            </a:xfrm>
            <a:prstGeom prst="rect">
              <a:avLst/>
            </a:prstGeom>
            <a:ln w="34925">
              <a:solidFill>
                <a:srgbClr val="FF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571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424D8E-3740-918F-A72D-FD9D6CC7731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ja-JP" altLang="en-US" sz="3200" u="sng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受講 </a:t>
            </a:r>
            <a:r>
              <a:rPr lang="ja-JP" altLang="en-US" sz="3200" u="sng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所感</a:t>
            </a:r>
            <a:endParaRPr kumimoji="1" lang="en-US" altLang="ja-JP" sz="3200" u="sng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kumimoji="1"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・実務に活用したい</a:t>
            </a:r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（特にデータクレンジング、条件抽出）</a:t>
            </a:r>
            <a:endParaRPr kumimoji="1"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・咀嚼→応用が必要</a:t>
            </a:r>
            <a:endParaRPr kumimoji="1"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ja-JP" altLang="en-US" sz="3200" u="sng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プレゼン（本日）</a:t>
            </a:r>
            <a:endParaRPr kumimoji="1" lang="en-US" altLang="ja-JP" sz="3200" u="sng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br>
              <a:rPr kumimoji="1" lang="en-US" altLang="ja-JP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・データ</a:t>
            </a:r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分析（種類削減基準外となった部品）</a:t>
            </a:r>
            <a:br>
              <a:rPr kumimoji="1" lang="en-US" altLang="ja-JP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・データクレンジング、グラフ化、仮説</a:t>
            </a:r>
            <a:endParaRPr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</a:t>
            </a:r>
            <a:r>
              <a:rPr lang="en-US" altLang="ja-JP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 大</a:t>
            </a:r>
            <a:r>
              <a:rPr lang="en-US" altLang="ja-JP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ASSY-NS</a:t>
            </a:r>
            <a:r>
              <a:rPr lang="ja-JP" altLang="en-US" sz="3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化 データを使用</a:t>
            </a:r>
            <a:endParaRPr lang="en-US" altLang="ja-JP" sz="3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310808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0DDF38ED-C2ED-AE7E-8948-8A0F3297BF90}"/>
              </a:ext>
            </a:extLst>
          </p:cNvPr>
          <p:cNvGrpSpPr/>
          <p:nvPr/>
        </p:nvGrpSpPr>
        <p:grpSpPr>
          <a:xfrm>
            <a:off x="6363644" y="141938"/>
            <a:ext cx="5525271" cy="6716062"/>
            <a:chOff x="6363644" y="141938"/>
            <a:chExt cx="5525271" cy="6716062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B54490E0-A0EB-6461-DD68-FE1F5DF3A3F3}"/>
                </a:ext>
              </a:extLst>
            </p:cNvPr>
            <p:cNvGrpSpPr/>
            <p:nvPr/>
          </p:nvGrpSpPr>
          <p:grpSpPr>
            <a:xfrm>
              <a:off x="6363644" y="141938"/>
              <a:ext cx="5525271" cy="6716062"/>
              <a:chOff x="6363644" y="141938"/>
              <a:chExt cx="5525271" cy="6716062"/>
            </a:xfrm>
          </p:grpSpPr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716A1913-B6C5-01FE-A8C7-9C7A67B1F5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3644" y="141938"/>
                <a:ext cx="5525271" cy="6716062"/>
              </a:xfrm>
              <a:prstGeom prst="rect">
                <a:avLst/>
              </a:prstGeom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A4363848-388D-DA85-C7EE-07ADF8D311DB}"/>
                  </a:ext>
                </a:extLst>
              </p:cNvPr>
              <p:cNvSpPr/>
              <p:nvPr/>
            </p:nvSpPr>
            <p:spPr>
              <a:xfrm>
                <a:off x="8006315" y="5018567"/>
                <a:ext cx="1679945" cy="850605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BF1F49F2-58DF-CD0E-FC05-4CB745F41D6B}"/>
                </a:ext>
              </a:extLst>
            </p:cNvPr>
            <p:cNvSpPr/>
            <p:nvPr/>
          </p:nvSpPr>
          <p:spPr>
            <a:xfrm>
              <a:off x="7719238" y="4104167"/>
              <a:ext cx="1360968" cy="31897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E70D548-46AB-C4DF-9F7E-9C78C15D192F}"/>
              </a:ext>
            </a:extLst>
          </p:cNvPr>
          <p:cNvGrpSpPr/>
          <p:nvPr/>
        </p:nvGrpSpPr>
        <p:grpSpPr>
          <a:xfrm>
            <a:off x="227643" y="84780"/>
            <a:ext cx="5782482" cy="6773220"/>
            <a:chOff x="227643" y="84780"/>
            <a:chExt cx="5782482" cy="677322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D02C84D7-3478-A825-CF9E-9F1520F6C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643" y="84780"/>
              <a:ext cx="5782482" cy="6773220"/>
            </a:xfrm>
            <a:prstGeom prst="rect">
              <a:avLst/>
            </a:prstGeom>
          </p:spPr>
        </p:pic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D48500E-77C1-85FC-00C6-9FD2E1521B9A}"/>
                </a:ext>
              </a:extLst>
            </p:cNvPr>
            <p:cNvSpPr/>
            <p:nvPr/>
          </p:nvSpPr>
          <p:spPr>
            <a:xfrm>
              <a:off x="4553464" y="340243"/>
              <a:ext cx="1360968" cy="53162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088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A3C8E04-E9A2-6DAC-DCE6-383DADEA1DCF}"/>
              </a:ext>
            </a:extLst>
          </p:cNvPr>
          <p:cNvGrpSpPr/>
          <p:nvPr/>
        </p:nvGrpSpPr>
        <p:grpSpPr>
          <a:xfrm>
            <a:off x="219004" y="58684"/>
            <a:ext cx="11669911" cy="6799316"/>
            <a:chOff x="219004" y="58684"/>
            <a:chExt cx="11669911" cy="6799316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762DBDF4-5E95-FFD5-3845-6A15DA3F4187}"/>
                </a:ext>
              </a:extLst>
            </p:cNvPr>
            <p:cNvGrpSpPr/>
            <p:nvPr/>
          </p:nvGrpSpPr>
          <p:grpSpPr>
            <a:xfrm>
              <a:off x="6363644" y="141938"/>
              <a:ext cx="5525271" cy="6716062"/>
              <a:chOff x="6363644" y="141938"/>
              <a:chExt cx="5525271" cy="6716062"/>
            </a:xfrm>
          </p:grpSpPr>
          <p:grpSp>
            <p:nvGrpSpPr>
              <p:cNvPr id="5" name="グループ化 4">
                <a:extLst>
                  <a:ext uri="{FF2B5EF4-FFF2-40B4-BE49-F238E27FC236}">
                    <a16:creationId xmlns:a16="http://schemas.microsoft.com/office/drawing/2014/main" id="{324FA73C-8901-B620-59A6-6F6EA13FFE13}"/>
                  </a:ext>
                </a:extLst>
              </p:cNvPr>
              <p:cNvGrpSpPr/>
              <p:nvPr/>
            </p:nvGrpSpPr>
            <p:grpSpPr>
              <a:xfrm>
                <a:off x="6363644" y="141938"/>
                <a:ext cx="5525271" cy="6716062"/>
                <a:chOff x="6363644" y="141938"/>
                <a:chExt cx="5525271" cy="6716062"/>
              </a:xfrm>
            </p:grpSpPr>
            <p:pic>
              <p:nvPicPr>
                <p:cNvPr id="7" name="図 6">
                  <a:extLst>
                    <a:ext uri="{FF2B5EF4-FFF2-40B4-BE49-F238E27FC236}">
                      <a16:creationId xmlns:a16="http://schemas.microsoft.com/office/drawing/2014/main" id="{189EF855-204D-A792-53DE-E6D5FAABFB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63644" y="141938"/>
                  <a:ext cx="5525271" cy="6716062"/>
                </a:xfrm>
                <a:prstGeom prst="rect">
                  <a:avLst/>
                </a:prstGeom>
              </p:spPr>
            </p:pic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386FFFFF-4BB4-E1A8-3135-D506AA3DC68B}"/>
                    </a:ext>
                  </a:extLst>
                </p:cNvPr>
                <p:cNvSpPr/>
                <p:nvPr/>
              </p:nvSpPr>
              <p:spPr>
                <a:xfrm>
                  <a:off x="8006315" y="5018567"/>
                  <a:ext cx="1679945" cy="850605"/>
                </a:xfrm>
                <a:prstGeom prst="rect">
                  <a:avLst/>
                </a:prstGeom>
                <a:noFill/>
                <a:ln w="571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6D1C7FA6-58DE-8C8C-8745-F470B8A1FAB3}"/>
                  </a:ext>
                </a:extLst>
              </p:cNvPr>
              <p:cNvSpPr/>
              <p:nvPr/>
            </p:nvSpPr>
            <p:spPr>
              <a:xfrm>
                <a:off x="7719238" y="4104167"/>
                <a:ext cx="1360968" cy="318977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5011F58A-E2EB-BA0F-3C9E-240E2BA40D16}"/>
                </a:ext>
              </a:extLst>
            </p:cNvPr>
            <p:cNvGrpSpPr/>
            <p:nvPr/>
          </p:nvGrpSpPr>
          <p:grpSpPr>
            <a:xfrm>
              <a:off x="219004" y="58684"/>
              <a:ext cx="4310465" cy="6742632"/>
              <a:chOff x="219004" y="58684"/>
              <a:chExt cx="4310465" cy="6742632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C63B7B18-BFF1-09A9-B2F2-3FE613CC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566" y="58684"/>
                <a:ext cx="4130903" cy="6742632"/>
              </a:xfrm>
              <a:prstGeom prst="rect">
                <a:avLst/>
              </a:prstGeom>
            </p:spPr>
          </p:pic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584265EF-0C5C-C527-6EF9-09FFE144B538}"/>
                  </a:ext>
                </a:extLst>
              </p:cNvPr>
              <p:cNvSpPr/>
              <p:nvPr/>
            </p:nvSpPr>
            <p:spPr>
              <a:xfrm>
                <a:off x="219004" y="2115878"/>
                <a:ext cx="4310465" cy="308345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4255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21E4FDE-7423-2300-482D-52371B3DA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48" y="0"/>
            <a:ext cx="5277377" cy="6858000"/>
          </a:xfrm>
          <a:prstGeom prst="rect">
            <a:avLst/>
          </a:prstGeom>
        </p:spPr>
      </p:pic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DE47CFF-29AD-EB05-079E-33EB009F9A8B}"/>
              </a:ext>
            </a:extLst>
          </p:cNvPr>
          <p:cNvGrpSpPr/>
          <p:nvPr/>
        </p:nvGrpSpPr>
        <p:grpSpPr>
          <a:xfrm>
            <a:off x="6710877" y="0"/>
            <a:ext cx="4388133" cy="6858000"/>
            <a:chOff x="6623868" y="0"/>
            <a:chExt cx="4388133" cy="68580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973DA3D-12A0-7A96-674F-4021B4098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3868" y="0"/>
              <a:ext cx="4388133" cy="6858000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FDDA008-0E60-2F9E-F0FD-698679379499}"/>
                </a:ext>
              </a:extLst>
            </p:cNvPr>
            <p:cNvSpPr/>
            <p:nvPr/>
          </p:nvSpPr>
          <p:spPr>
            <a:xfrm>
              <a:off x="6751674" y="5284382"/>
              <a:ext cx="2126512" cy="98882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074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5A6A1BAB-9C7B-5D64-BD51-AE6030808FEC}"/>
              </a:ext>
            </a:extLst>
          </p:cNvPr>
          <p:cNvGrpSpPr/>
          <p:nvPr/>
        </p:nvGrpSpPr>
        <p:grpSpPr>
          <a:xfrm>
            <a:off x="219004" y="-57186"/>
            <a:ext cx="10043544" cy="6915186"/>
            <a:chOff x="219004" y="-57186"/>
            <a:chExt cx="10043544" cy="6915186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7CEECA1A-CB5F-9E8A-12D4-E8C747339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-57186"/>
              <a:ext cx="4166548" cy="6800814"/>
            </a:xfrm>
            <a:prstGeom prst="rect">
              <a:avLst/>
            </a:prstGeom>
          </p:spPr>
        </p:pic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8FEA5B27-A58E-D202-B1A3-91C66CC1D854}"/>
                </a:ext>
              </a:extLst>
            </p:cNvPr>
            <p:cNvGrpSpPr/>
            <p:nvPr/>
          </p:nvGrpSpPr>
          <p:grpSpPr>
            <a:xfrm>
              <a:off x="219004" y="0"/>
              <a:ext cx="9956353" cy="6858000"/>
              <a:chOff x="219004" y="0"/>
              <a:chExt cx="9956353" cy="6858000"/>
            </a:xfrm>
          </p:grpSpPr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C159772A-BBB4-94BF-0CA7-D8DDD3BA6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005" y="0"/>
                <a:ext cx="4311199" cy="6858000"/>
              </a:xfrm>
              <a:prstGeom prst="rect">
                <a:avLst/>
              </a:prstGeom>
            </p:spPr>
          </p:pic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A3405BC4-6316-AEF9-AE97-0DFE70D15F1E}"/>
                  </a:ext>
                </a:extLst>
              </p:cNvPr>
              <p:cNvSpPr/>
              <p:nvPr/>
            </p:nvSpPr>
            <p:spPr>
              <a:xfrm>
                <a:off x="219004" y="1998920"/>
                <a:ext cx="9956353" cy="287079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2497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8CFF415A-47E4-215E-0344-7898C74271C3}"/>
              </a:ext>
            </a:extLst>
          </p:cNvPr>
          <p:cNvGrpSpPr/>
          <p:nvPr/>
        </p:nvGrpSpPr>
        <p:grpSpPr>
          <a:xfrm>
            <a:off x="625549" y="552893"/>
            <a:ext cx="10940901" cy="5550196"/>
            <a:chOff x="3017875" y="489098"/>
            <a:chExt cx="10940901" cy="5550196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F6B3C39C-DD16-401D-58F7-961698B84416}"/>
                </a:ext>
              </a:extLst>
            </p:cNvPr>
            <p:cNvSpPr/>
            <p:nvPr/>
          </p:nvSpPr>
          <p:spPr>
            <a:xfrm>
              <a:off x="3017875" y="489098"/>
              <a:ext cx="10940901" cy="555019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3200" b="1" dirty="0"/>
                <a:t>　</a:t>
              </a:r>
              <a:r>
                <a:rPr kumimoji="1" lang="ja-JP" altLang="en-US" sz="3200" b="1" u="sng" dirty="0"/>
                <a:t>修正</a:t>
              </a:r>
              <a:endParaRPr kumimoji="1" lang="en-US" altLang="ja-JP" sz="3200" b="1" u="sng" dirty="0"/>
            </a:p>
            <a:p>
              <a:r>
                <a:rPr kumimoji="1" lang="ja-JP" altLang="en-US" sz="3200" b="1" dirty="0"/>
                <a:t>　</a:t>
              </a:r>
              <a:endParaRPr kumimoji="1" lang="en-US" altLang="ja-JP" sz="3200" b="1" dirty="0"/>
            </a:p>
            <a:p>
              <a:r>
                <a:rPr kumimoji="1" lang="ja-JP" altLang="en-US" sz="3200" b="1" dirty="0"/>
                <a:t>　・欠損＝除外されない品番</a:t>
              </a:r>
              <a:br>
                <a:rPr kumimoji="1" lang="en-US" altLang="ja-JP" sz="3200" b="1" dirty="0"/>
              </a:br>
              <a:br>
                <a:rPr kumimoji="1" lang="en-US" altLang="ja-JP" sz="3200" b="1" dirty="0"/>
              </a:br>
              <a:r>
                <a:rPr kumimoji="1" lang="ja-JP" altLang="en-US" sz="3200" b="1" dirty="0"/>
                <a:t>　・目的は「除外理由」の分析</a:t>
              </a:r>
              <a:endParaRPr kumimoji="1" lang="en-US" altLang="ja-JP" sz="3200" b="1" dirty="0"/>
            </a:p>
            <a:p>
              <a:endParaRPr kumimoji="1" lang="en-US" altLang="ja-JP" sz="3200" b="1" dirty="0"/>
            </a:p>
            <a:p>
              <a:endParaRPr lang="en-US" altLang="ja-JP" sz="3200" b="1" dirty="0"/>
            </a:p>
            <a:p>
              <a:r>
                <a:rPr kumimoji="1" lang="ja-JP" altLang="en-US" sz="3200" b="1" dirty="0"/>
                <a:t>　→　</a:t>
              </a:r>
              <a:r>
                <a:rPr kumimoji="1" lang="ja-JP" altLang="en-US" sz="3200" b="1" u="sng" dirty="0"/>
                <a:t>欠損値を含む行を削除</a:t>
              </a:r>
              <a:endParaRPr kumimoji="1" lang="en-US" altLang="ja-JP" sz="3200" b="1" u="sng" dirty="0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0652190A-FF14-2455-B052-ED001F9E31FB}"/>
                </a:ext>
              </a:extLst>
            </p:cNvPr>
            <p:cNvSpPr/>
            <p:nvPr/>
          </p:nvSpPr>
          <p:spPr>
            <a:xfrm>
              <a:off x="3902150" y="2190307"/>
              <a:ext cx="4827181" cy="63795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351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D36A0DA2-A34F-FBBC-687A-89808A4B3936}"/>
              </a:ext>
            </a:extLst>
          </p:cNvPr>
          <p:cNvGrpSpPr/>
          <p:nvPr/>
        </p:nvGrpSpPr>
        <p:grpSpPr>
          <a:xfrm>
            <a:off x="316284" y="0"/>
            <a:ext cx="4945978" cy="6858000"/>
            <a:chOff x="316284" y="0"/>
            <a:chExt cx="4945978" cy="685800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9590A38-D290-6E02-A329-0593F51AD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285" y="0"/>
              <a:ext cx="4945977" cy="6858000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6DE03092-71C6-95DE-CA4D-677B8389DB38}"/>
                </a:ext>
              </a:extLst>
            </p:cNvPr>
            <p:cNvSpPr/>
            <p:nvPr/>
          </p:nvSpPr>
          <p:spPr>
            <a:xfrm>
              <a:off x="316284" y="6337005"/>
              <a:ext cx="2501343" cy="3402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6A39E42-C563-E82A-FDFA-2BF2216901C2}"/>
              </a:ext>
            </a:extLst>
          </p:cNvPr>
          <p:cNvSpPr/>
          <p:nvPr/>
        </p:nvSpPr>
        <p:spPr>
          <a:xfrm>
            <a:off x="404038" y="5794744"/>
            <a:ext cx="520996" cy="4465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34CE081-8995-B659-451F-2A2E0000C755}"/>
              </a:ext>
            </a:extLst>
          </p:cNvPr>
          <p:cNvGrpSpPr/>
          <p:nvPr/>
        </p:nvGrpSpPr>
        <p:grpSpPr>
          <a:xfrm>
            <a:off x="6222147" y="0"/>
            <a:ext cx="5446758" cy="6858000"/>
            <a:chOff x="6222147" y="0"/>
            <a:chExt cx="5446758" cy="68580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9DA22E0F-AA29-6B12-29AD-E4BB3278E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2147" y="0"/>
              <a:ext cx="5446758" cy="6858000"/>
            </a:xfrm>
            <a:prstGeom prst="rect">
              <a:avLst/>
            </a:prstGeom>
          </p:spPr>
        </p:pic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E4E6EF40-B9C9-9153-0351-E1B82EF77CC4}"/>
                </a:ext>
              </a:extLst>
            </p:cNvPr>
            <p:cNvSpPr/>
            <p:nvPr/>
          </p:nvSpPr>
          <p:spPr>
            <a:xfrm>
              <a:off x="7697972" y="5550195"/>
              <a:ext cx="1392865" cy="69111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D66BF92A-459E-A90F-D34A-E597F79C15CD}"/>
                </a:ext>
              </a:extLst>
            </p:cNvPr>
            <p:cNvSpPr/>
            <p:nvPr/>
          </p:nvSpPr>
          <p:spPr>
            <a:xfrm>
              <a:off x="6954544" y="4816549"/>
              <a:ext cx="1179363" cy="20201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289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B5BC502-1868-7A5C-C7E1-9A9968347F9D}"/>
              </a:ext>
            </a:extLst>
          </p:cNvPr>
          <p:cNvGrpSpPr/>
          <p:nvPr/>
        </p:nvGrpSpPr>
        <p:grpSpPr>
          <a:xfrm>
            <a:off x="378747" y="0"/>
            <a:ext cx="6586059" cy="6858000"/>
            <a:chOff x="378747" y="0"/>
            <a:chExt cx="6586059" cy="6858000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A34729DD-7B7D-5915-43F2-41D518A46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747" y="0"/>
              <a:ext cx="6586059" cy="6858000"/>
            </a:xfrm>
            <a:prstGeom prst="rect">
              <a:avLst/>
            </a:prstGeom>
          </p:spPr>
        </p:pic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0BAAB7A-5FC9-C454-376D-2E471FF47AAF}"/>
                </a:ext>
              </a:extLst>
            </p:cNvPr>
            <p:cNvSpPr/>
            <p:nvPr/>
          </p:nvSpPr>
          <p:spPr>
            <a:xfrm>
              <a:off x="552893" y="3572538"/>
              <a:ext cx="4157330" cy="248801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412A5BD-70E8-4D46-C7CB-C47A9F7DC33B}"/>
              </a:ext>
            </a:extLst>
          </p:cNvPr>
          <p:cNvGrpSpPr/>
          <p:nvPr/>
        </p:nvGrpSpPr>
        <p:grpSpPr>
          <a:xfrm>
            <a:off x="7293497" y="0"/>
            <a:ext cx="4898503" cy="6553573"/>
            <a:chOff x="7293497" y="0"/>
            <a:chExt cx="4898503" cy="6553573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1C77AC27-38CA-FB29-8001-8247667E8B16}"/>
                </a:ext>
              </a:extLst>
            </p:cNvPr>
            <p:cNvGrpSpPr/>
            <p:nvPr/>
          </p:nvGrpSpPr>
          <p:grpSpPr>
            <a:xfrm>
              <a:off x="7971800" y="1644745"/>
              <a:ext cx="4220200" cy="4908828"/>
              <a:chOff x="7429058" y="792878"/>
              <a:chExt cx="4220200" cy="4908828"/>
            </a:xfrm>
          </p:grpSpPr>
          <p:pic>
            <p:nvPicPr>
              <p:cNvPr id="7" name="図 6" descr="黒いバックグラウンドの前に座っている人形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DB31C0E6-AD7A-2F09-B821-AE72497F8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9058" y="3530008"/>
                <a:ext cx="2171698" cy="2171698"/>
              </a:xfrm>
              <a:prstGeom prst="rect">
                <a:avLst/>
              </a:prstGeom>
            </p:spPr>
          </p:pic>
          <p:pic>
            <p:nvPicPr>
              <p:cNvPr id="9" name="図 8" descr="黒い背景に白い文字のロゴ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1B4D0147-F102-6F6B-D565-8209795466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669" y="792878"/>
                <a:ext cx="3614589" cy="3171802"/>
              </a:xfrm>
              <a:prstGeom prst="rect">
                <a:avLst/>
              </a:prstGeom>
            </p:spPr>
          </p:pic>
        </p:grpSp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ABC9FF49-6D29-21EA-B9D2-832CD02AA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3497" y="0"/>
              <a:ext cx="2624097" cy="2478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429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6333964-BAA7-095C-0C27-E76FBBC11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9" y="222264"/>
            <a:ext cx="7659169" cy="190526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27EDD045-026B-4536-81B5-2249447C8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464" y="1041991"/>
            <a:ext cx="6719186" cy="5657153"/>
          </a:xfrm>
          <a:prstGeom prst="rect">
            <a:avLst/>
          </a:prstGeom>
          <a:ln w="25400">
            <a:noFill/>
          </a:ln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97F6484-B4EA-55B3-469C-84CA3925FCD3}"/>
              </a:ext>
            </a:extLst>
          </p:cNvPr>
          <p:cNvGrpSpPr/>
          <p:nvPr/>
        </p:nvGrpSpPr>
        <p:grpSpPr>
          <a:xfrm>
            <a:off x="425302" y="4355378"/>
            <a:ext cx="1687033" cy="2138324"/>
            <a:chOff x="7293497" y="0"/>
            <a:chExt cx="4898503" cy="6553573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6073BCD5-48E2-328C-48B7-1648FE0D6034}"/>
                </a:ext>
              </a:extLst>
            </p:cNvPr>
            <p:cNvGrpSpPr/>
            <p:nvPr/>
          </p:nvGrpSpPr>
          <p:grpSpPr>
            <a:xfrm>
              <a:off x="7971800" y="1644745"/>
              <a:ext cx="4220200" cy="4908828"/>
              <a:chOff x="7429058" y="792878"/>
              <a:chExt cx="4220200" cy="4908828"/>
            </a:xfrm>
          </p:grpSpPr>
          <p:pic>
            <p:nvPicPr>
              <p:cNvPr id="11" name="図 10" descr="黒いバックグラウンドの前に座っている人形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5B1CB063-A5F7-EBB9-8216-4C6E004B6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9058" y="3530008"/>
                <a:ext cx="2171698" cy="2171698"/>
              </a:xfrm>
              <a:prstGeom prst="rect">
                <a:avLst/>
              </a:prstGeom>
            </p:spPr>
          </p:pic>
          <p:pic>
            <p:nvPicPr>
              <p:cNvPr id="12" name="図 11" descr="黒い背景に白い文字のロゴ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77A4E9BC-3FE0-90B8-EF64-2AF20E348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669" y="792878"/>
                <a:ext cx="3614589" cy="3171802"/>
              </a:xfrm>
              <a:prstGeom prst="rect">
                <a:avLst/>
              </a:prstGeom>
            </p:spPr>
          </p:pic>
        </p:grp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3FFDA5DB-E074-BAD1-F64D-FA23E4744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3497" y="0"/>
              <a:ext cx="2624097" cy="24783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1973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>
            <a:extLst>
              <a:ext uri="{FF2B5EF4-FFF2-40B4-BE49-F238E27FC236}">
                <a16:creationId xmlns:a16="http://schemas.microsoft.com/office/drawing/2014/main" id="{4CB93518-4CC1-AE81-9D4F-1B2B0852E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9" y="140742"/>
            <a:ext cx="11268426" cy="2237702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71C7B4D-2680-3656-BCC3-A6FB0400FF51}"/>
              </a:ext>
            </a:extLst>
          </p:cNvPr>
          <p:cNvGrpSpPr/>
          <p:nvPr/>
        </p:nvGrpSpPr>
        <p:grpSpPr>
          <a:xfrm>
            <a:off x="398649" y="2963367"/>
            <a:ext cx="5555584" cy="3695412"/>
            <a:chOff x="378747" y="3429000"/>
            <a:chExt cx="4928263" cy="3429000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9396C0E-A55A-C8B3-7D93-F415B0105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0000" r="25171"/>
            <a:stretch/>
          </p:blipFill>
          <p:spPr>
            <a:xfrm>
              <a:off x="378747" y="3429000"/>
              <a:ext cx="4928263" cy="3429000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E76DDED-240D-0416-0142-B5D0BD759999}"/>
                </a:ext>
              </a:extLst>
            </p:cNvPr>
            <p:cNvSpPr/>
            <p:nvPr/>
          </p:nvSpPr>
          <p:spPr>
            <a:xfrm>
              <a:off x="552893" y="3572538"/>
              <a:ext cx="4157330" cy="248801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4E3C63E-3E7A-70FD-AA20-D2A09CC3EA48}"/>
              </a:ext>
            </a:extLst>
          </p:cNvPr>
          <p:cNvGrpSpPr/>
          <p:nvPr/>
        </p:nvGrpSpPr>
        <p:grpSpPr>
          <a:xfrm>
            <a:off x="6259639" y="2579610"/>
            <a:ext cx="5446492" cy="4079169"/>
            <a:chOff x="6259639" y="2579610"/>
            <a:chExt cx="5446492" cy="4079169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85258A48-0723-B43D-AFC9-9C8AFC272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855" b="6190"/>
            <a:stretch/>
          </p:blipFill>
          <p:spPr>
            <a:xfrm>
              <a:off x="6259639" y="2579610"/>
              <a:ext cx="5446492" cy="4079169"/>
            </a:xfrm>
            <a:prstGeom prst="rect">
              <a:avLst/>
            </a:prstGeom>
            <a:ln w="25400">
              <a:noFill/>
            </a:ln>
          </p:spPr>
        </p:pic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C07DFD6E-1309-9DE4-2C10-390A0195961D}"/>
                </a:ext>
              </a:extLst>
            </p:cNvPr>
            <p:cNvSpPr/>
            <p:nvPr/>
          </p:nvSpPr>
          <p:spPr>
            <a:xfrm>
              <a:off x="6879265" y="4306187"/>
              <a:ext cx="1520456" cy="21584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4F625D2-C41B-307A-8ACA-3ACA1089527D}"/>
                </a:ext>
              </a:extLst>
            </p:cNvPr>
            <p:cNvSpPr/>
            <p:nvPr/>
          </p:nvSpPr>
          <p:spPr>
            <a:xfrm>
              <a:off x="10536864" y="4306187"/>
              <a:ext cx="1060173" cy="215608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05323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D230-F42F-808C-59E4-DA5D0BFC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B099D81-9D9F-183B-1F24-FF9A9D2B5F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48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4800" u="sng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まとめ</a:t>
            </a:r>
            <a:endParaRPr lang="en-US" altLang="ja-JP" sz="4800" u="sng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48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・作業単位で業務改善に活用できる</a:t>
            </a:r>
            <a:endParaRPr kumimoji="1" lang="en-US" altLang="ja-JP" sz="4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4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・シンプルに俯瞰できる（分析、仮説）</a:t>
            </a:r>
            <a:endParaRPr lang="en-US" altLang="ja-JP" sz="4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4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</a:t>
            </a:r>
            <a:r>
              <a:rPr lang="en-US" altLang="ja-JP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Python</a:t>
            </a:r>
            <a:r>
              <a:rPr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40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VScode</a:t>
            </a:r>
            <a:r>
              <a:rPr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、想像以上に直感的</a:t>
            </a:r>
            <a:br>
              <a:rPr lang="en-US" altLang="ja-JP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en-US" altLang="ja-JP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4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・心理的安全性が保たれ、真摯な仲間と学べ感謝</a:t>
            </a:r>
            <a:endParaRPr lang="en-US" altLang="ja-JP" sz="4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4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9358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黒い背景と男性の絵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04EE4C5C-2E86-14AC-AB64-9154E44A4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560" y="946297"/>
            <a:ext cx="4800880" cy="532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19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ワイド画面</PresentationFormat>
  <Paragraphs>83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Kiyotani, Mina/清谷 美奈</dc:creator>
  <cp:lastModifiedBy>Kiyotani, Mina/清谷 美奈</cp:lastModifiedBy>
  <cp:revision>1</cp:revision>
  <dcterms:created xsi:type="dcterms:W3CDTF">2026-01-20T22:03:58Z</dcterms:created>
  <dcterms:modified xsi:type="dcterms:W3CDTF">2026-01-20T22:04:13Z</dcterms:modified>
</cp:coreProperties>
</file>